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ist Mono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Geist Medium" panose="020B0604020202020204" charset="0"/>
      <p:regular r:id="rId22"/>
    </p:embeddedFont>
    <p:embeddedFont>
      <p:font typeface="Geist" panose="020B0604020202020204" charset="0"/>
      <p:regular r:id="rId23"/>
    </p:embeddedFont>
    <p:embeddedFont>
      <p:font typeface="Geist Mono Medium" panose="020B0604020202020204" charset="0"/>
      <p:regular r:id="rId24"/>
    </p:embeddedFont>
    <p:embeddedFont>
      <p:font typeface="Geist Bold" panose="020B0604020202020204" charset="0"/>
      <p:regular r:id="rId25"/>
    </p:embeddedFont>
    <p:embeddedFont>
      <p:font typeface="Geist SemiBold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17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E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EFE4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237" cy="6858000"/>
          </a:xfrm>
          <a:prstGeom prst="rect">
            <a:avLst/>
          </a:prstGeom>
          <a:solidFill>
            <a:srgbClr val="1E1A17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40385"/>
            <a:ext cx="607044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10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REVIEW 4 · OPERATING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3582575"/>
            <a:ext cx="5638659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Multi-User Linux Shell</a:t>
            </a:r>
            <a:endParaRPr lang="en-US" sz="44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— ShellForge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1789" y="4842669"/>
            <a:ext cx="563865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and implementation of a custom command interpreter in C.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1789" y="5671939"/>
            <a:ext cx="1860603" cy="38100"/>
          </a:xfrm>
          <a:prstGeom prst="roundRect">
            <a:avLst>
              <a:gd name="adj" fmla="val 49999"/>
            </a:avLst>
          </a:prstGeom>
          <a:solidFill>
            <a:srgbClr val="BDB2A6"/>
          </a:solidFill>
          <a:ln/>
        </p:spPr>
      </p:sp>
      <p:sp>
        <p:nvSpPr>
          <p:cNvPr id="7" name="Text 5"/>
          <p:cNvSpPr/>
          <p:nvPr/>
        </p:nvSpPr>
        <p:spPr>
          <a:xfrm>
            <a:off x="431789" y="5914192"/>
            <a:ext cx="563865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Team: Aniketh, Prashanth, Arun, Ashwithnath</a:t>
            </a:r>
            <a:endParaRPr lang="en-US" sz="12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Technology: C, Linux/Ubuntu, WSL, GCC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01 · PURPOSE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21726"/>
            <a:ext cx="10972526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ShellForge turns OS concepts into a working shell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181820"/>
            <a:ext cx="5486263" cy="1070570"/>
          </a:xfrm>
          <a:prstGeom prst="rect">
            <a:avLst/>
          </a:prstGeom>
          <a:solidFill>
            <a:srgbClr val="EFE4D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410440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566" y="2415549"/>
            <a:ext cx="4495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Custom Linux command-line shell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566" y="2766020"/>
            <a:ext cx="472428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Developed in C on Ubuntu using WSL.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5848" y="2181820"/>
            <a:ext cx="5486263" cy="1070570"/>
          </a:xfrm>
          <a:prstGeom prst="rect">
            <a:avLst/>
          </a:prstGeom>
          <a:solidFill>
            <a:srgbClr val="EFE4D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410440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7828" y="2415549"/>
            <a:ext cx="4495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Login-based multi-user session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57828" y="2766020"/>
            <a:ext cx="472428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Accepts and processes commands.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9585" y="3252391"/>
            <a:ext cx="5486263" cy="1328341"/>
          </a:xfrm>
          <a:prstGeom prst="rect">
            <a:avLst/>
          </a:prstGeom>
          <a:solidFill>
            <a:srgbClr val="EFE4D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79" y="3481010"/>
            <a:ext cx="355591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566" y="3486119"/>
            <a:ext cx="4495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Built-ins, programs, pipes, and Ctrl+C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566" y="3836591"/>
            <a:ext cx="449568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Supports built-in commands, external programs, pipes, and Ctrl+C handling.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95848" y="3252391"/>
            <a:ext cx="5486263" cy="1328341"/>
          </a:xfrm>
          <a:prstGeom prst="rect">
            <a:avLst/>
          </a:prstGeom>
          <a:solidFill>
            <a:srgbClr val="EFE4D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3481010"/>
            <a:ext cx="355591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7828" y="3486119"/>
            <a:ext cx="4495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Main objective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857828" y="3836591"/>
            <a:ext cx="449568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Demonstrate operating-system concepts through a working application.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9498" y="2181820"/>
            <a:ext cx="12700" cy="107057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1" name="Shape 15"/>
          <p:cNvSpPr/>
          <p:nvPr/>
        </p:nvSpPr>
        <p:spPr>
          <a:xfrm>
            <a:off x="609585" y="3246041"/>
            <a:ext cx="5486263" cy="127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2" name="Shape 16"/>
          <p:cNvSpPr/>
          <p:nvPr/>
        </p:nvSpPr>
        <p:spPr>
          <a:xfrm>
            <a:off x="6089498" y="3252391"/>
            <a:ext cx="12700" cy="1328341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3" name="Shape 17"/>
          <p:cNvSpPr/>
          <p:nvPr/>
        </p:nvSpPr>
        <p:spPr>
          <a:xfrm>
            <a:off x="6095848" y="3246041"/>
            <a:ext cx="5486263" cy="127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4" name="Text 18"/>
          <p:cNvSpPr/>
          <p:nvPr/>
        </p:nvSpPr>
        <p:spPr>
          <a:xfrm>
            <a:off x="11819634" y="6456561"/>
            <a:ext cx="3720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02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357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Eight focused modules make the shell understandable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46106"/>
            <a:ext cx="1097252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100" spc="-8" dirty="0">
                <a:solidFill>
                  <a:srgbClr val="62595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flow is explicit: main.c routes a session through authentication, input, signals, parsing, and execution.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9264"/>
            <a:ext cx="1613554" cy="91430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053" y="3429099"/>
            <a:ext cx="7951489" cy="34289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57123" y="3850527"/>
            <a:ext cx="4372701" cy="1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31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Session Start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657123" y="4645674"/>
            <a:ext cx="4372701" cy="1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31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Auth &amp; Input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2657123" y="5432869"/>
            <a:ext cx="4372701" cy="1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31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Parse &amp; Signals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2657123" y="6220064"/>
            <a:ext cx="4372701" cy="1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-31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Execute &amp; IPC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819634" y="6456561"/>
            <a:ext cx="3720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E1A17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387985"/>
            <a:ext cx="117345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03 · SYSTEM CALLS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693126"/>
            <a:ext cx="11277318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Core system calls connect input to execution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189" y="1383308"/>
            <a:ext cx="117345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call has one job in the command path.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4792" y="3740785"/>
            <a:ext cx="37591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PARSE +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4792" y="3993524"/>
            <a:ext cx="345431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strtok()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4792" y="4356695"/>
            <a:ext cx="37591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Divides commands into tokens.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4792" y="4921219"/>
            <a:ext cx="345431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malloc()</a:t>
            </a: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 · </a:t>
            </a: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realloc()</a:t>
            </a: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 · </a:t>
            </a: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free()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4792" y="5284391"/>
            <a:ext cx="37591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 growing input.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68691" y="3740785"/>
            <a:ext cx="37591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PROCESS + SYNC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68691" y="3993524"/>
            <a:ext cx="345431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 · </a:t>
            </a: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68691" y="4356695"/>
            <a:ext cx="37591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children and launch programs.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68691" y="4921219"/>
            <a:ext cx="345431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68691" y="5284391"/>
            <a:ext cx="37591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Coordinates child processes.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2589" y="3740785"/>
            <a:ext cx="37591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IPC + SIGNALS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32589" y="3993524"/>
            <a:ext cx="345431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pipe()</a:t>
            </a: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 · </a:t>
            </a: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dup2()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2589" y="4356695"/>
            <a:ext cx="37591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 communication.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2589" y="4921219"/>
            <a:ext cx="345431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SIGINT</a:t>
            </a: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 · </a:t>
            </a:r>
            <a:r>
              <a:rPr lang="en-US" sz="15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SIGCHLD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32589" y="5284391"/>
            <a:ext cx="37591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 interruption and cleanup.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3422650"/>
            <a:ext cx="4063898" cy="127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2" name="Shape 20"/>
          <p:cNvSpPr/>
          <p:nvPr/>
        </p:nvSpPr>
        <p:spPr>
          <a:xfrm>
            <a:off x="4057548" y="3429000"/>
            <a:ext cx="12700" cy="34290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3" name="Shape 21"/>
          <p:cNvSpPr/>
          <p:nvPr/>
        </p:nvSpPr>
        <p:spPr>
          <a:xfrm>
            <a:off x="4063898" y="3422650"/>
            <a:ext cx="4063898" cy="127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1447" y="3429000"/>
            <a:ext cx="12700" cy="34290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7797" y="3422650"/>
            <a:ext cx="4063898" cy="127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9634" y="6456561"/>
            <a:ext cx="3720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0383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3420" y="489585"/>
            <a:ext cx="497827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04 · WORKING FEATURES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213420" y="775357"/>
            <a:ext cx="4673483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Authentication, commands, pipes, and signals are built in</a:t>
            </a:r>
            <a:endParaRPr lang="en-US" sz="3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644" y="2313960"/>
            <a:ext cx="311142" cy="355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46806" y="2313980"/>
            <a:ext cx="414009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Username and password verification starts the session.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420" y="3235901"/>
            <a:ext cx="355591" cy="355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46806" y="3235920"/>
            <a:ext cx="414009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Built-ins include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help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3420" y="3906421"/>
            <a:ext cx="355591" cy="355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46806" y="3906441"/>
            <a:ext cx="414009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External commands run through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3420" y="4876681"/>
            <a:ext cx="355591" cy="2844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46806" y="4841081"/>
            <a:ext cx="4140096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Pipelines connect commands such as </a:t>
            </a:r>
            <a:r>
              <a:rPr lang="en-US" sz="1400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 | wc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The shell remains active after Ctrl+C and accepts long commands with many arguments.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7213420" y="3026370"/>
            <a:ext cx="4673483" cy="127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14" name="Shape 7"/>
          <p:cNvSpPr/>
          <p:nvPr/>
        </p:nvSpPr>
        <p:spPr>
          <a:xfrm>
            <a:off x="7213420" y="3696891"/>
            <a:ext cx="4673483" cy="127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15" name="Shape 8"/>
          <p:cNvSpPr/>
          <p:nvPr/>
        </p:nvSpPr>
        <p:spPr>
          <a:xfrm>
            <a:off x="7213420" y="4631531"/>
            <a:ext cx="4673483" cy="127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16" name="Text 9"/>
          <p:cNvSpPr/>
          <p:nvPr/>
        </p:nvSpPr>
        <p:spPr>
          <a:xfrm>
            <a:off x="11819634" y="6456561"/>
            <a:ext cx="3720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690862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05 · PIPELINE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357"/>
            <a:ext cx="6299042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 pipeline turns two processes into one command 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974652"/>
            <a:ext cx="629904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current implementation supports one pipeline connecting two commands.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5035887"/>
            <a:ext cx="690862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2447C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TESTED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5330551"/>
            <a:ext cx="6299042" cy="4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kern="100" spc="-102" dirty="0">
                <a:solidFill>
                  <a:srgbClr val="3A332D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 | wc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9585" y="5939830"/>
            <a:ext cx="690862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Reported output: 9 lines, 9 words, 64 bytes.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004" y="0"/>
            <a:ext cx="2016968" cy="1142901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004" y="1301651"/>
            <a:ext cx="4368691" cy="18838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18113" y="1533187"/>
            <a:ext cx="2402398" cy="104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100" spc="-17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fork()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118113" y="1970047"/>
            <a:ext cx="2402398" cy="104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100" spc="-17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pipe()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8118113" y="2402538"/>
            <a:ext cx="2402398" cy="104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100" spc="-17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dup2()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8118113" y="2835030"/>
            <a:ext cx="2402398" cy="10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100" spc="-17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execvp()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11819634" y="6456561"/>
            <a:ext cx="3720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489585"/>
            <a:ext cx="1196310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BDB2A6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06 · ACCURACY OF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28594" y="775357"/>
            <a:ext cx="1173450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21 of 21 test cases passed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28594" y="1381323"/>
            <a:ext cx="1196310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tested category achieved a 100% pass rate.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1494"/>
            <a:ext cx="1299832" cy="73650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4" y="2718495"/>
            <a:ext cx="10794730" cy="3302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594" y="6093520"/>
            <a:ext cx="19050" cy="205680"/>
          </a:xfrm>
          <a:prstGeom prst="rect">
            <a:avLst/>
          </a:prstGeom>
          <a:solidFill>
            <a:srgbClr val="2447C9"/>
          </a:solidFill>
          <a:ln/>
        </p:spPr>
      </p:sp>
      <p:sp>
        <p:nvSpPr>
          <p:cNvPr id="8" name="Text 4"/>
          <p:cNvSpPr/>
          <p:nvPr/>
        </p:nvSpPr>
        <p:spPr>
          <a:xfrm>
            <a:off x="228594" y="6094472"/>
            <a:ext cx="11963101" cy="205680"/>
          </a:xfrm>
          <a:prstGeom prst="rect">
            <a:avLst/>
          </a:prstGeom>
          <a:noFill/>
          <a:ln/>
        </p:spPr>
        <p:txBody>
          <a:bodyPr wrap="none" lIns="126997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Coverage included authentication, commands, pipes, invalid inputs, Ctrl+C, long inputs, and zombie-process checking.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819634" y="6456561"/>
            <a:ext cx="3720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64185"/>
            <a:ext cx="1168370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07 · SUSTAINABILITY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49957"/>
            <a:ext cx="11175720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Modularity creates a foundation for sustainable growth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7987" y="2918321"/>
            <a:ext cx="5587860" cy="1742281"/>
          </a:xfrm>
          <a:prstGeom prst="rect">
            <a:avLst/>
          </a:prstGeom>
          <a:solidFill>
            <a:srgbClr val="EFE4D4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3273921"/>
            <a:ext cx="487667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3A332D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Innovation:</a:t>
            </a: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combines authentication with shell execution, dynamic input, real-time process communication, signal-based management, and zombie-process prevention.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48" y="2918321"/>
            <a:ext cx="5587860" cy="1742281"/>
          </a:xfrm>
          <a:prstGeom prst="rect">
            <a:avLst/>
          </a:prstGeom>
          <a:solidFill>
            <a:srgbClr val="1E1A17"/>
          </a:solidFill>
          <a:ln/>
        </p:spPr>
      </p:sp>
      <p:sp>
        <p:nvSpPr>
          <p:cNvPr id="7" name="Text 5"/>
          <p:cNvSpPr/>
          <p:nvPr/>
        </p:nvSpPr>
        <p:spPr>
          <a:xfrm>
            <a:off x="6451439" y="3273921"/>
            <a:ext cx="487667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improvements: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secure password hashing, multiple pipelines, redirection, background processes, command history, user-specific directories and permissions, and session logging.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9498" y="2918321"/>
            <a:ext cx="12700" cy="1742281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9" name="Text 7"/>
          <p:cNvSpPr/>
          <p:nvPr/>
        </p:nvSpPr>
        <p:spPr>
          <a:xfrm>
            <a:off x="11819634" y="6456561"/>
            <a:ext cx="3720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08 ·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357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ShellForge makes low-level OS concepts tangible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46106"/>
            <a:ext cx="1097252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100" spc="-8" dirty="0">
                <a:solidFill>
                  <a:srgbClr val="62595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working shell turns technical competence into an educational Linux utility.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3" y="3759200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9393" y="4284028"/>
            <a:ext cx="350511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Utility to society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9393" y="4644330"/>
            <a:ext cx="350511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educational Linux shell that helps students understand process management, IPC, and Linux system calls.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291" y="3759200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291" y="4284028"/>
            <a:ext cx="350511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Technical competence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343291" y="4644330"/>
            <a:ext cx="350511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C, Linux/Ubuntu, WSL, GCC, GNU Make, and Git.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27797" y="3429000"/>
            <a:ext cx="4063898" cy="3429000"/>
          </a:xfrm>
          <a:prstGeom prst="rect">
            <a:avLst/>
          </a:prstGeom>
          <a:solidFill>
            <a:srgbClr val="1E1A1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190" y="3759200"/>
            <a:ext cx="355591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07190" y="4284028"/>
            <a:ext cx="350511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Major calls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407190" y="4644330"/>
            <a:ext cx="350511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BDB2A6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00" dirty="0">
                <a:solidFill>
                  <a:srgbClr val="BDB2A6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00" dirty="0">
                <a:solidFill>
                  <a:srgbClr val="BDB2A6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waitpid()</a:t>
            </a: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00" dirty="0">
                <a:solidFill>
                  <a:srgbClr val="BDB2A6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pipe()</a:t>
            </a: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00" dirty="0">
                <a:solidFill>
                  <a:srgbClr val="BDB2A6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dup2()</a:t>
            </a: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</a:t>
            </a:r>
            <a:r>
              <a:rPr lang="en-US" sz="1400" dirty="0">
                <a:solidFill>
                  <a:srgbClr val="BDB2A6"/>
                </a:solidFill>
                <a:highlight>
                  <a:srgbClr val="EFE4D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signal()</a:t>
            </a: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195339" y="4026258"/>
            <a:ext cx="455403" cy="241300"/>
          </a:xfrm>
          <a:prstGeom prst="roundRect">
            <a:avLst>
              <a:gd name="adj" fmla="val 11052"/>
            </a:avLst>
          </a:prstGeom>
          <a:solidFill>
            <a:srgbClr val="EFE4D4"/>
          </a:solidFill>
          <a:ln/>
        </p:spPr>
      </p:sp>
      <p:sp>
        <p:nvSpPr>
          <p:cNvPr id="16" name="Shape 11"/>
          <p:cNvSpPr/>
          <p:nvPr/>
        </p:nvSpPr>
        <p:spPr>
          <a:xfrm>
            <a:off x="9141313" y="3752856"/>
            <a:ext cx="698086" cy="241300"/>
          </a:xfrm>
          <a:prstGeom prst="roundRect">
            <a:avLst>
              <a:gd name="adj" fmla="val 11052"/>
            </a:avLst>
          </a:prstGeom>
          <a:solidFill>
            <a:srgbClr val="EFE4D4"/>
          </a:solidFill>
          <a:ln/>
        </p:spPr>
      </p:sp>
      <p:sp>
        <p:nvSpPr>
          <p:cNvPr id="17" name="Shape 12"/>
          <p:cNvSpPr/>
          <p:nvPr/>
        </p:nvSpPr>
        <p:spPr>
          <a:xfrm>
            <a:off x="9927215" y="3748455"/>
            <a:ext cx="729835" cy="241300"/>
          </a:xfrm>
          <a:prstGeom prst="roundRect">
            <a:avLst>
              <a:gd name="adj" fmla="val 11052"/>
            </a:avLst>
          </a:prstGeom>
          <a:solidFill>
            <a:srgbClr val="EFE4D4"/>
          </a:solidFill>
          <a:ln/>
        </p:spPr>
      </p:sp>
      <p:sp>
        <p:nvSpPr>
          <p:cNvPr id="18" name="Shape 13"/>
          <p:cNvSpPr/>
          <p:nvPr/>
        </p:nvSpPr>
        <p:spPr>
          <a:xfrm>
            <a:off x="10711934" y="3748455"/>
            <a:ext cx="484870" cy="241300"/>
          </a:xfrm>
          <a:prstGeom prst="roundRect">
            <a:avLst>
              <a:gd name="adj" fmla="val 11052"/>
            </a:avLst>
          </a:prstGeom>
          <a:solidFill>
            <a:srgbClr val="EFE4D4"/>
          </a:solidFill>
          <a:ln/>
        </p:spPr>
      </p:sp>
      <p:sp>
        <p:nvSpPr>
          <p:cNvPr id="19" name="Shape 14"/>
          <p:cNvSpPr/>
          <p:nvPr/>
        </p:nvSpPr>
        <p:spPr>
          <a:xfrm>
            <a:off x="11268785" y="3742105"/>
            <a:ext cx="550849" cy="241300"/>
          </a:xfrm>
          <a:prstGeom prst="roundRect">
            <a:avLst>
              <a:gd name="adj" fmla="val 11052"/>
            </a:avLst>
          </a:prstGeom>
          <a:solidFill>
            <a:srgbClr val="EFE4D4"/>
          </a:solidFill>
          <a:ln/>
        </p:spPr>
      </p:sp>
      <p:sp>
        <p:nvSpPr>
          <p:cNvPr id="20" name="Shape 15"/>
          <p:cNvSpPr/>
          <p:nvPr/>
        </p:nvSpPr>
        <p:spPr>
          <a:xfrm>
            <a:off x="9977188" y="4021614"/>
            <a:ext cx="601449" cy="241300"/>
          </a:xfrm>
          <a:prstGeom prst="roundRect">
            <a:avLst>
              <a:gd name="adj" fmla="val 11052"/>
            </a:avLst>
          </a:prstGeom>
          <a:solidFill>
            <a:srgbClr val="EFE4D4"/>
          </a:solidFill>
          <a:ln/>
        </p:spPr>
      </p:sp>
      <p:sp>
        <p:nvSpPr>
          <p:cNvPr id="21" name="Shape 16"/>
          <p:cNvSpPr/>
          <p:nvPr/>
        </p:nvSpPr>
        <p:spPr>
          <a:xfrm>
            <a:off x="4057548" y="3429000"/>
            <a:ext cx="12700" cy="34290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2" name="Shape 17"/>
          <p:cNvSpPr/>
          <p:nvPr/>
        </p:nvSpPr>
        <p:spPr>
          <a:xfrm>
            <a:off x="8121447" y="3429000"/>
            <a:ext cx="12700" cy="3429000"/>
          </a:xfrm>
          <a:prstGeom prst="rect">
            <a:avLst/>
          </a:prstGeom>
          <a:solidFill>
            <a:srgbClr val="BDB2A6"/>
          </a:solidFill>
          <a:ln/>
        </p:spPr>
      </p:sp>
      <p:sp>
        <p:nvSpPr>
          <p:cNvPr id="23" name="Text 18"/>
          <p:cNvSpPr/>
          <p:nvPr/>
        </p:nvSpPr>
        <p:spPr>
          <a:xfrm>
            <a:off x="11819634" y="6456561"/>
            <a:ext cx="37206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1E1A17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40385"/>
            <a:ext cx="647683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10" dirty="0">
                <a:solidFill>
                  <a:srgbClr val="EFE4D4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09 · 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2776819"/>
            <a:ext cx="6045049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FFFF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ShellForge delivers a working multi-user shell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31789" y="4081363"/>
            <a:ext cx="1994842" cy="38100"/>
          </a:xfrm>
          <a:prstGeom prst="roundRect">
            <a:avLst>
              <a:gd name="adj" fmla="val 49999"/>
            </a:avLst>
          </a:prstGeom>
          <a:solidFill>
            <a:srgbClr val="EFE4D4"/>
          </a:solidFill>
          <a:ln/>
        </p:spPr>
      </p:sp>
      <p:sp>
        <p:nvSpPr>
          <p:cNvPr id="6" name="Text 4"/>
          <p:cNvSpPr/>
          <p:nvPr/>
        </p:nvSpPr>
        <p:spPr>
          <a:xfrm>
            <a:off x="431789" y="4322663"/>
            <a:ext cx="6045049" cy="118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Authentication works successfully. Built-in and external commands execute. Process creation, pipe-based IPC, and signal handling are implemented.</a:t>
            </a:r>
            <a:endParaRPr lang="en-US" sz="14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BDB2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21/21 test cases passed.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89" y="5678229"/>
            <a:ext cx="647683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10" dirty="0">
                <a:solidFill>
                  <a:srgbClr val="BDB2A6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TEAM: ANIKETH, PRASHANTH, ARUN, ASHWITHNATH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89" y="6011565"/>
            <a:ext cx="647683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EFE4D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you. Questions?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584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Geist Mono</vt:lpstr>
      <vt:lpstr>Calibri</vt:lpstr>
      <vt:lpstr>Consolas</vt:lpstr>
      <vt:lpstr>Geist Medium</vt:lpstr>
      <vt:lpstr>Arial</vt:lpstr>
      <vt:lpstr>Geist</vt:lpstr>
      <vt:lpstr>Geist Mono Medium</vt:lpstr>
      <vt:lpstr>Geist Bold</vt:lpstr>
      <vt:lpstr>Geist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2</cp:revision>
  <dcterms:created xsi:type="dcterms:W3CDTF">2026-10-08T07:29:52Z</dcterms:created>
  <dcterms:modified xsi:type="dcterms:W3CDTF">2026-10-08T07:40:48Z</dcterms:modified>
</cp:coreProperties>
</file>